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aleway" charset="1" panose="00000000000000000000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0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152276" y="29188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50237" y="2868216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Cloud Simplify: The Unified Multi-Cloud 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5065365"/>
            <a:ext cx="9445526" cy="1446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Stop juggling cloud tools. Start building with one.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6841331"/>
            <a:ext cx="9445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Your team will love to manage infrastructure.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3962" y="7812286"/>
            <a:ext cx="9445526" cy="70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TEAM NAME: CLOUDINEERS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64444"/>
            <a:ext cx="11649521" cy="73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Problem: The Complexity of Multi-Cloud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2549724"/>
            <a:ext cx="8048030" cy="3108871"/>
            <a:chOff x="0" y="0"/>
            <a:chExt cx="10730707" cy="4145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79938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10519918" y="0"/>
                  </a:lnTo>
                  <a:cubicBezTo>
                    <a:pt x="10608311" y="0"/>
                    <a:pt x="10679938" y="71120"/>
                    <a:pt x="10679938" y="158750"/>
                  </a:cubicBezTo>
                  <a:lnTo>
                    <a:pt x="10679938" y="3935603"/>
                  </a:lnTo>
                  <a:cubicBezTo>
                    <a:pt x="10679938" y="4023233"/>
                    <a:pt x="10608311" y="4094353"/>
                    <a:pt x="10519918" y="4094353"/>
                  </a:cubicBezTo>
                  <a:lnTo>
                    <a:pt x="160020" y="4094353"/>
                  </a:lnTo>
                  <a:cubicBezTo>
                    <a:pt x="71628" y="4094353"/>
                    <a:pt x="0" y="4023233"/>
                    <a:pt x="0" y="393560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738">
                  <a:moveTo>
                    <a:pt x="0" y="184150"/>
                  </a:moveTo>
                  <a:cubicBezTo>
                    <a:pt x="0" y="82296"/>
                    <a:pt x="83185" y="0"/>
                    <a:pt x="185420" y="0"/>
                  </a:cubicBezTo>
                  <a:lnTo>
                    <a:pt x="10545318" y="0"/>
                  </a:lnTo>
                  <a:lnTo>
                    <a:pt x="10545318" y="25400"/>
                  </a:lnTo>
                  <a:lnTo>
                    <a:pt x="10545318" y="0"/>
                  </a:lnTo>
                  <a:cubicBezTo>
                    <a:pt x="10647553" y="0"/>
                    <a:pt x="10730738" y="82296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3961003"/>
                  </a:lnTo>
                  <a:lnTo>
                    <a:pt x="10705338" y="3961003"/>
                  </a:lnTo>
                  <a:lnTo>
                    <a:pt x="10730738" y="3961003"/>
                  </a:lnTo>
                  <a:cubicBezTo>
                    <a:pt x="10730738" y="4062857"/>
                    <a:pt x="10647553" y="4145153"/>
                    <a:pt x="10545318" y="4145153"/>
                  </a:cubicBezTo>
                  <a:lnTo>
                    <a:pt x="10545318" y="4119753"/>
                  </a:lnTo>
                  <a:lnTo>
                    <a:pt x="10545318" y="4145153"/>
                  </a:lnTo>
                  <a:lnTo>
                    <a:pt x="185420" y="4145153"/>
                  </a:lnTo>
                  <a:lnTo>
                    <a:pt x="185420" y="4119753"/>
                  </a:lnTo>
                  <a:lnTo>
                    <a:pt x="185420" y="4145153"/>
                  </a:lnTo>
                  <a:cubicBezTo>
                    <a:pt x="83185" y="4145153"/>
                    <a:pt x="0" y="4062857"/>
                    <a:pt x="0" y="396100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961003"/>
                  </a:lnTo>
                  <a:lnTo>
                    <a:pt x="25400" y="3961003"/>
                  </a:lnTo>
                  <a:lnTo>
                    <a:pt x="50800" y="3961003"/>
                  </a:lnTo>
                  <a:cubicBezTo>
                    <a:pt x="50800" y="4034536"/>
                    <a:pt x="110871" y="4094353"/>
                    <a:pt x="185420" y="4094353"/>
                  </a:cubicBezTo>
                  <a:lnTo>
                    <a:pt x="10545318" y="4094353"/>
                  </a:lnTo>
                  <a:cubicBezTo>
                    <a:pt x="10619867" y="4094353"/>
                    <a:pt x="10679938" y="4034409"/>
                    <a:pt x="10679938" y="3961003"/>
                  </a:cubicBezTo>
                  <a:lnTo>
                    <a:pt x="10679938" y="184150"/>
                  </a:lnTo>
                  <a:cubicBezTo>
                    <a:pt x="10679938" y="110617"/>
                    <a:pt x="10619867" y="50800"/>
                    <a:pt x="10545318" y="50800"/>
                  </a:cubicBezTo>
                  <a:lnTo>
                    <a:pt x="185420" y="50800"/>
                  </a:lnTo>
                  <a:lnTo>
                    <a:pt x="185420" y="25400"/>
                  </a:lnTo>
                  <a:lnTo>
                    <a:pt x="185420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2568774"/>
            <a:ext cx="152400" cy="3070771"/>
            <a:chOff x="0" y="0"/>
            <a:chExt cx="203200" cy="40943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66255" y="2861816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Too Many Tools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6255" y="3408164"/>
            <a:ext cx="7214295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Developers and teams must learn and manage a separate set of APIs and CLI tools for AWS, Azure, GCP, and other providers. This leads to fragmented knowledge and slow operations.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6635" y="2549724"/>
            <a:ext cx="8048179" cy="3108871"/>
            <a:chOff x="0" y="0"/>
            <a:chExt cx="10730905" cy="41451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80192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80192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10520172" y="0"/>
                  </a:lnTo>
                  <a:cubicBezTo>
                    <a:pt x="10608564" y="0"/>
                    <a:pt x="10680192" y="71120"/>
                    <a:pt x="10680192" y="158750"/>
                  </a:cubicBezTo>
                  <a:lnTo>
                    <a:pt x="10680192" y="3935603"/>
                  </a:lnTo>
                  <a:cubicBezTo>
                    <a:pt x="10680192" y="4023233"/>
                    <a:pt x="10608564" y="4094353"/>
                    <a:pt x="10520172" y="4094353"/>
                  </a:cubicBezTo>
                  <a:lnTo>
                    <a:pt x="160020" y="4094353"/>
                  </a:lnTo>
                  <a:cubicBezTo>
                    <a:pt x="71628" y="4094353"/>
                    <a:pt x="0" y="4023233"/>
                    <a:pt x="0" y="393560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992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992">
                  <a:moveTo>
                    <a:pt x="0" y="184150"/>
                  </a:moveTo>
                  <a:cubicBezTo>
                    <a:pt x="0" y="82296"/>
                    <a:pt x="83185" y="0"/>
                    <a:pt x="185420" y="0"/>
                  </a:cubicBezTo>
                  <a:lnTo>
                    <a:pt x="10545572" y="0"/>
                  </a:lnTo>
                  <a:lnTo>
                    <a:pt x="10545572" y="25400"/>
                  </a:lnTo>
                  <a:lnTo>
                    <a:pt x="10545572" y="0"/>
                  </a:lnTo>
                  <a:cubicBezTo>
                    <a:pt x="10647807" y="0"/>
                    <a:pt x="10730992" y="82296"/>
                    <a:pt x="10730992" y="184150"/>
                  </a:cubicBezTo>
                  <a:lnTo>
                    <a:pt x="10705592" y="184150"/>
                  </a:lnTo>
                  <a:lnTo>
                    <a:pt x="10730992" y="184150"/>
                  </a:lnTo>
                  <a:lnTo>
                    <a:pt x="10730992" y="3961003"/>
                  </a:lnTo>
                  <a:lnTo>
                    <a:pt x="10705592" y="3961003"/>
                  </a:lnTo>
                  <a:lnTo>
                    <a:pt x="10730992" y="3961003"/>
                  </a:lnTo>
                  <a:cubicBezTo>
                    <a:pt x="10730992" y="4062857"/>
                    <a:pt x="10647807" y="4145153"/>
                    <a:pt x="10545572" y="4145153"/>
                  </a:cubicBezTo>
                  <a:lnTo>
                    <a:pt x="10545572" y="4119753"/>
                  </a:lnTo>
                  <a:lnTo>
                    <a:pt x="10545572" y="4145153"/>
                  </a:lnTo>
                  <a:lnTo>
                    <a:pt x="185420" y="4145153"/>
                  </a:lnTo>
                  <a:lnTo>
                    <a:pt x="185420" y="4119753"/>
                  </a:lnTo>
                  <a:lnTo>
                    <a:pt x="185420" y="4145153"/>
                  </a:lnTo>
                  <a:cubicBezTo>
                    <a:pt x="83185" y="4145153"/>
                    <a:pt x="0" y="4062857"/>
                    <a:pt x="0" y="396100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961003"/>
                  </a:lnTo>
                  <a:lnTo>
                    <a:pt x="25400" y="3961003"/>
                  </a:lnTo>
                  <a:lnTo>
                    <a:pt x="50800" y="3961003"/>
                  </a:lnTo>
                  <a:cubicBezTo>
                    <a:pt x="50800" y="4034536"/>
                    <a:pt x="110871" y="4094353"/>
                    <a:pt x="185420" y="4094353"/>
                  </a:cubicBezTo>
                  <a:lnTo>
                    <a:pt x="10545572" y="4094353"/>
                  </a:lnTo>
                  <a:cubicBezTo>
                    <a:pt x="10620121" y="4094353"/>
                    <a:pt x="10680192" y="4034409"/>
                    <a:pt x="10680192" y="3961003"/>
                  </a:cubicBezTo>
                  <a:lnTo>
                    <a:pt x="10680192" y="184150"/>
                  </a:lnTo>
                  <a:cubicBezTo>
                    <a:pt x="10680192" y="110617"/>
                    <a:pt x="10620121" y="50800"/>
                    <a:pt x="10545572" y="50800"/>
                  </a:cubicBezTo>
                  <a:lnTo>
                    <a:pt x="185420" y="50800"/>
                  </a:lnTo>
                  <a:lnTo>
                    <a:pt x="185420" y="25400"/>
                  </a:lnTo>
                  <a:lnTo>
                    <a:pt x="185420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85685" y="2568774"/>
            <a:ext cx="152400" cy="3070771"/>
            <a:chOff x="0" y="0"/>
            <a:chExt cx="203200" cy="40943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59702" y="2861816"/>
            <a:ext cx="3790058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Inconsistent Workflows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59702" y="3408164"/>
            <a:ext cx="7214444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Provisioning a database on AWS is a different process from provisioning one on Azure, leading to inefficiency, manual errors, and a higher risk of misconfigurations across environments.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188" y="5904011"/>
            <a:ext cx="8048030" cy="3108871"/>
            <a:chOff x="0" y="0"/>
            <a:chExt cx="10730707" cy="41451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679938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79938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10519918" y="0"/>
                  </a:lnTo>
                  <a:cubicBezTo>
                    <a:pt x="10608311" y="0"/>
                    <a:pt x="10679938" y="71120"/>
                    <a:pt x="10679938" y="158750"/>
                  </a:cubicBezTo>
                  <a:lnTo>
                    <a:pt x="10679938" y="3935603"/>
                  </a:lnTo>
                  <a:cubicBezTo>
                    <a:pt x="10679938" y="4023233"/>
                    <a:pt x="10608311" y="4094353"/>
                    <a:pt x="10519918" y="4094353"/>
                  </a:cubicBezTo>
                  <a:lnTo>
                    <a:pt x="160020" y="4094353"/>
                  </a:lnTo>
                  <a:cubicBezTo>
                    <a:pt x="71628" y="4094353"/>
                    <a:pt x="0" y="4023233"/>
                    <a:pt x="0" y="393560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738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738">
                  <a:moveTo>
                    <a:pt x="0" y="184150"/>
                  </a:moveTo>
                  <a:cubicBezTo>
                    <a:pt x="0" y="82296"/>
                    <a:pt x="83185" y="0"/>
                    <a:pt x="185420" y="0"/>
                  </a:cubicBezTo>
                  <a:lnTo>
                    <a:pt x="10545318" y="0"/>
                  </a:lnTo>
                  <a:lnTo>
                    <a:pt x="10545318" y="25400"/>
                  </a:lnTo>
                  <a:lnTo>
                    <a:pt x="10545318" y="0"/>
                  </a:lnTo>
                  <a:cubicBezTo>
                    <a:pt x="10647553" y="0"/>
                    <a:pt x="10730738" y="82296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3961003"/>
                  </a:lnTo>
                  <a:lnTo>
                    <a:pt x="10705338" y="3961003"/>
                  </a:lnTo>
                  <a:lnTo>
                    <a:pt x="10730738" y="3961003"/>
                  </a:lnTo>
                  <a:cubicBezTo>
                    <a:pt x="10730738" y="4062857"/>
                    <a:pt x="10647553" y="4145153"/>
                    <a:pt x="10545318" y="4145153"/>
                  </a:cubicBezTo>
                  <a:lnTo>
                    <a:pt x="10545318" y="4119753"/>
                  </a:lnTo>
                  <a:lnTo>
                    <a:pt x="10545318" y="4145153"/>
                  </a:lnTo>
                  <a:lnTo>
                    <a:pt x="185420" y="4145153"/>
                  </a:lnTo>
                  <a:lnTo>
                    <a:pt x="185420" y="4119753"/>
                  </a:lnTo>
                  <a:lnTo>
                    <a:pt x="185420" y="4145153"/>
                  </a:lnTo>
                  <a:cubicBezTo>
                    <a:pt x="83185" y="4145153"/>
                    <a:pt x="0" y="4062857"/>
                    <a:pt x="0" y="396100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961003"/>
                  </a:lnTo>
                  <a:lnTo>
                    <a:pt x="25400" y="3961003"/>
                  </a:lnTo>
                  <a:lnTo>
                    <a:pt x="50800" y="3961003"/>
                  </a:lnTo>
                  <a:cubicBezTo>
                    <a:pt x="50800" y="4034536"/>
                    <a:pt x="110871" y="4094353"/>
                    <a:pt x="185420" y="4094353"/>
                  </a:cubicBezTo>
                  <a:lnTo>
                    <a:pt x="10545318" y="4094353"/>
                  </a:lnTo>
                  <a:cubicBezTo>
                    <a:pt x="10619867" y="4094353"/>
                    <a:pt x="10679938" y="4034409"/>
                    <a:pt x="10679938" y="3961003"/>
                  </a:cubicBezTo>
                  <a:lnTo>
                    <a:pt x="10679938" y="184150"/>
                  </a:lnTo>
                  <a:cubicBezTo>
                    <a:pt x="10679938" y="110617"/>
                    <a:pt x="10619867" y="50800"/>
                    <a:pt x="10545318" y="50800"/>
                  </a:cubicBezTo>
                  <a:lnTo>
                    <a:pt x="185420" y="50800"/>
                  </a:lnTo>
                  <a:lnTo>
                    <a:pt x="185420" y="25400"/>
                  </a:lnTo>
                  <a:lnTo>
                    <a:pt x="185420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2238" y="5923061"/>
            <a:ext cx="152400" cy="3070771"/>
            <a:chOff x="0" y="0"/>
            <a:chExt cx="203200" cy="40943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66255" y="6216104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High Learning Curve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6255" y="6762452"/>
            <a:ext cx="7214295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Onboarding new team members is slow and costly due to the steep learning curve required to master each individual cloud ecosystem and its specific tooling.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6635" y="5904011"/>
            <a:ext cx="8048179" cy="3108871"/>
            <a:chOff x="0" y="0"/>
            <a:chExt cx="10730905" cy="41451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80192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80192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10520172" y="0"/>
                  </a:lnTo>
                  <a:cubicBezTo>
                    <a:pt x="10608564" y="0"/>
                    <a:pt x="10680192" y="71120"/>
                    <a:pt x="10680192" y="158750"/>
                  </a:cubicBezTo>
                  <a:lnTo>
                    <a:pt x="10680192" y="3935603"/>
                  </a:lnTo>
                  <a:cubicBezTo>
                    <a:pt x="10680192" y="4023233"/>
                    <a:pt x="10608564" y="4094353"/>
                    <a:pt x="10520172" y="4094353"/>
                  </a:cubicBezTo>
                  <a:lnTo>
                    <a:pt x="160020" y="4094353"/>
                  </a:lnTo>
                  <a:cubicBezTo>
                    <a:pt x="71628" y="4094353"/>
                    <a:pt x="0" y="4023233"/>
                    <a:pt x="0" y="393560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992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992">
                  <a:moveTo>
                    <a:pt x="0" y="184150"/>
                  </a:moveTo>
                  <a:cubicBezTo>
                    <a:pt x="0" y="82296"/>
                    <a:pt x="83185" y="0"/>
                    <a:pt x="185420" y="0"/>
                  </a:cubicBezTo>
                  <a:lnTo>
                    <a:pt x="10545572" y="0"/>
                  </a:lnTo>
                  <a:lnTo>
                    <a:pt x="10545572" y="25400"/>
                  </a:lnTo>
                  <a:lnTo>
                    <a:pt x="10545572" y="0"/>
                  </a:lnTo>
                  <a:cubicBezTo>
                    <a:pt x="10647807" y="0"/>
                    <a:pt x="10730992" y="82296"/>
                    <a:pt x="10730992" y="184150"/>
                  </a:cubicBezTo>
                  <a:lnTo>
                    <a:pt x="10705592" y="184150"/>
                  </a:lnTo>
                  <a:lnTo>
                    <a:pt x="10730992" y="184150"/>
                  </a:lnTo>
                  <a:lnTo>
                    <a:pt x="10730992" y="3961003"/>
                  </a:lnTo>
                  <a:lnTo>
                    <a:pt x="10705592" y="3961003"/>
                  </a:lnTo>
                  <a:lnTo>
                    <a:pt x="10730992" y="3961003"/>
                  </a:lnTo>
                  <a:cubicBezTo>
                    <a:pt x="10730992" y="4062857"/>
                    <a:pt x="10647807" y="4145153"/>
                    <a:pt x="10545572" y="4145153"/>
                  </a:cubicBezTo>
                  <a:lnTo>
                    <a:pt x="10545572" y="4119753"/>
                  </a:lnTo>
                  <a:lnTo>
                    <a:pt x="10545572" y="4145153"/>
                  </a:lnTo>
                  <a:lnTo>
                    <a:pt x="185420" y="4145153"/>
                  </a:lnTo>
                  <a:lnTo>
                    <a:pt x="185420" y="4119753"/>
                  </a:lnTo>
                  <a:lnTo>
                    <a:pt x="185420" y="4145153"/>
                  </a:lnTo>
                  <a:cubicBezTo>
                    <a:pt x="83185" y="4145153"/>
                    <a:pt x="0" y="4062857"/>
                    <a:pt x="0" y="396100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961003"/>
                  </a:lnTo>
                  <a:lnTo>
                    <a:pt x="25400" y="3961003"/>
                  </a:lnTo>
                  <a:lnTo>
                    <a:pt x="50800" y="3961003"/>
                  </a:lnTo>
                  <a:cubicBezTo>
                    <a:pt x="50800" y="4034536"/>
                    <a:pt x="110871" y="4094353"/>
                    <a:pt x="185420" y="4094353"/>
                  </a:cubicBezTo>
                  <a:lnTo>
                    <a:pt x="10545572" y="4094353"/>
                  </a:lnTo>
                  <a:cubicBezTo>
                    <a:pt x="10620121" y="4094353"/>
                    <a:pt x="10680192" y="4034409"/>
                    <a:pt x="10680192" y="3961003"/>
                  </a:cubicBezTo>
                  <a:lnTo>
                    <a:pt x="10680192" y="184150"/>
                  </a:lnTo>
                  <a:cubicBezTo>
                    <a:pt x="10680192" y="110617"/>
                    <a:pt x="10620121" y="50800"/>
                    <a:pt x="10545572" y="50800"/>
                  </a:cubicBezTo>
                  <a:lnTo>
                    <a:pt x="185420" y="50800"/>
                  </a:lnTo>
                  <a:lnTo>
                    <a:pt x="185420" y="25400"/>
                  </a:lnTo>
                  <a:lnTo>
                    <a:pt x="185420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85685" y="5923061"/>
            <a:ext cx="152400" cy="3070771"/>
            <a:chOff x="0" y="0"/>
            <a:chExt cx="203200" cy="40943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59702" y="6216104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Configuration Drift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59702" y="6762452"/>
            <a:ext cx="7214444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Manually managing infrastructure across various cloud providers inevitably leads to inconsistencies and discrepancies between development, staging, and production environments.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5152276" y="29188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3017044"/>
            <a:ext cx="12192429" cy="70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Our Solution: A Unified Provisioning Platform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226124"/>
            <a:ext cx="1630352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Introducing a </a:t>
            </a:r>
            <a:r>
              <a:rPr lang="en-US" sz="2187">
                <a:solidFill>
                  <a:srgbClr val="876CD4"/>
                </a:solidFill>
                <a:latin typeface="Roboto"/>
                <a:ea typeface="Roboto"/>
                <a:cs typeface="Roboto"/>
                <a:sym typeface="Roboto"/>
              </a:rPr>
              <a:t>web-based platform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that acts as a user-friendly abstraction layer over native cloud APIs, simplifying infrastructure management.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232499"/>
            <a:ext cx="1630352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We use </a:t>
            </a:r>
            <a:r>
              <a:rPr lang="en-US" sz="2187">
                <a:solidFill>
                  <a:srgbClr val="876CD4"/>
                </a:solidFill>
                <a:latin typeface="Roboto"/>
                <a:ea typeface="Roboto"/>
                <a:cs typeface="Roboto"/>
                <a:sym typeface="Roboto"/>
              </a:rPr>
              <a:t>Terraform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as the powerful, standardized engine to provision and manage infrastructure reliably and consistently behind the scenes.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238875"/>
            <a:ext cx="1630352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Users interact with a simple UI, while we handle the complex configuration generation and execution, eliminating the need for deep cloud-specific knowledge.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61801" y="19663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6471" y="932557"/>
            <a:ext cx="7736681" cy="61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Core Components of Cloud Simplify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16471" y="2010668"/>
            <a:ext cx="1166366" cy="1399580"/>
            <a:chOff x="0" y="0"/>
            <a:chExt cx="1555155" cy="186610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55115" cy="1866138"/>
            </a:xfrm>
            <a:custGeom>
              <a:avLst/>
              <a:gdLst/>
              <a:ahLst/>
              <a:cxnLst/>
              <a:rect r="r" b="b" t="t" l="l"/>
              <a:pathLst>
                <a:path h="1866138" w="1555115">
                  <a:moveTo>
                    <a:pt x="0" y="0"/>
                  </a:moveTo>
                  <a:lnTo>
                    <a:pt x="1555115" y="0"/>
                  </a:lnTo>
                  <a:lnTo>
                    <a:pt x="1555115" y="1866138"/>
                  </a:lnTo>
                  <a:lnTo>
                    <a:pt x="0" y="1866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7" r="-2" b="-20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216051" y="2224831"/>
            <a:ext cx="2915990" cy="38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 Interface (UI)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16051" y="2662386"/>
            <a:ext cx="15255479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clean, intuitive dashboard where users can easily select cloud services and configure parameters without writing complex code.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16471" y="3410247"/>
            <a:ext cx="1166366" cy="1399580"/>
            <a:chOff x="0" y="0"/>
            <a:chExt cx="1555155" cy="186610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55115" cy="1866138"/>
            </a:xfrm>
            <a:custGeom>
              <a:avLst/>
              <a:gdLst/>
              <a:ahLst/>
              <a:cxnLst/>
              <a:rect r="r" b="b" t="t" l="l"/>
              <a:pathLst>
                <a:path h="1866138" w="1555115">
                  <a:moveTo>
                    <a:pt x="0" y="0"/>
                  </a:moveTo>
                  <a:lnTo>
                    <a:pt x="1555115" y="0"/>
                  </a:lnTo>
                  <a:lnTo>
                    <a:pt x="1555115" y="1866138"/>
                  </a:lnTo>
                  <a:lnTo>
                    <a:pt x="0" y="1866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7" r="-2" b="-20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216051" y="3624411"/>
            <a:ext cx="2915990" cy="38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API Gateway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6051" y="4061966"/>
            <a:ext cx="15255479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secure and robust backend translating user requests from the UI into a standardized format for seamless integration with our automation engine.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16471" y="4809828"/>
            <a:ext cx="1166366" cy="1716881"/>
            <a:chOff x="0" y="0"/>
            <a:chExt cx="1555155" cy="228917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555115" cy="2289175"/>
            </a:xfrm>
            <a:custGeom>
              <a:avLst/>
              <a:gdLst/>
              <a:ahLst/>
              <a:cxnLst/>
              <a:rect r="r" b="b" t="t" l="l"/>
              <a:pathLst>
                <a:path h="2289175" w="1555115">
                  <a:moveTo>
                    <a:pt x="0" y="0"/>
                  </a:moveTo>
                  <a:lnTo>
                    <a:pt x="1555115" y="0"/>
                  </a:lnTo>
                  <a:lnTo>
                    <a:pt x="1555115" y="2289175"/>
                  </a:lnTo>
                  <a:lnTo>
                    <a:pt x="0" y="2289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6" r="-2" b="-11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216051" y="5023991"/>
            <a:ext cx="3950048" cy="38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Terraform Automation Engine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16051" y="5461546"/>
            <a:ext cx="15255479" cy="83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core of the platform: dynamically generates Terraform files, manages and securely stores .tfstate files, and executes all necessary Terraform commands.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16471" y="6526709"/>
            <a:ext cx="1166366" cy="1399580"/>
            <a:chOff x="0" y="0"/>
            <a:chExt cx="1555155" cy="186610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555115" cy="1866138"/>
            </a:xfrm>
            <a:custGeom>
              <a:avLst/>
              <a:gdLst/>
              <a:ahLst/>
              <a:cxnLst/>
              <a:rect r="r" b="b" t="t" l="l"/>
              <a:pathLst>
                <a:path h="1866138" w="1555115">
                  <a:moveTo>
                    <a:pt x="0" y="0"/>
                  </a:moveTo>
                  <a:lnTo>
                    <a:pt x="1555115" y="0"/>
                  </a:lnTo>
                  <a:lnTo>
                    <a:pt x="1555115" y="1866138"/>
                  </a:lnTo>
                  <a:lnTo>
                    <a:pt x="0" y="1866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7" r="-2" b="-20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216051" y="6740873"/>
            <a:ext cx="3662511" cy="38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Cloud Provider Integrations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16051" y="7178428"/>
            <a:ext cx="15255479" cy="4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Securely connects to AWS, Azure, and GCP via established service accounts and API keys, ensuring reliable and authorized resource provisioning.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816471" y="7926289"/>
            <a:ext cx="1166366" cy="1399580"/>
            <a:chOff x="0" y="0"/>
            <a:chExt cx="1555155" cy="186610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555115" cy="1866138"/>
            </a:xfrm>
            <a:custGeom>
              <a:avLst/>
              <a:gdLst/>
              <a:ahLst/>
              <a:cxnLst/>
              <a:rect r="r" b="b" t="t" l="l"/>
              <a:pathLst>
                <a:path h="1866138" w="1555115">
                  <a:moveTo>
                    <a:pt x="0" y="0"/>
                  </a:moveTo>
                  <a:lnTo>
                    <a:pt x="1555115" y="0"/>
                  </a:lnTo>
                  <a:lnTo>
                    <a:pt x="1555115" y="1866138"/>
                  </a:lnTo>
                  <a:lnTo>
                    <a:pt x="0" y="1866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7" r="-2" b="-205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216051" y="8140453"/>
            <a:ext cx="2915990" cy="38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Monitoring &amp; Logging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16051" y="8578006"/>
            <a:ext cx="15255479" cy="4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Provides real-time feedback and detailed logs on all provisioning jobs, offering transparency and enabling quick troubleshooting.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161801" y="29188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0261" y="678805"/>
            <a:ext cx="8243739" cy="63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How It Works: A Simple Workflow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00261" y="1864965"/>
            <a:ext cx="1286172" cy="1543496"/>
            <a:chOff x="0" y="0"/>
            <a:chExt cx="1714897" cy="205799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14881" cy="2058035"/>
            </a:xfrm>
            <a:custGeom>
              <a:avLst/>
              <a:gdLst/>
              <a:ahLst/>
              <a:cxnLst/>
              <a:rect r="r" b="b" t="t" l="l"/>
              <a:pathLst>
                <a:path h="2058035" w="1714881">
                  <a:moveTo>
                    <a:pt x="0" y="0"/>
                  </a:moveTo>
                  <a:lnTo>
                    <a:pt x="1714881" y="0"/>
                  </a:lnTo>
                  <a:lnTo>
                    <a:pt x="1714881" y="2058035"/>
                  </a:lnTo>
                  <a:lnTo>
                    <a:pt x="0" y="205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0" r="-3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43609" y="2093565"/>
            <a:ext cx="3215580" cy="4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1. Request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43609" y="2592735"/>
            <a:ext cx="14944130" cy="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user logs in and requests a specific service (e.g., a virtual machine) through the intuitive UI.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00261" y="3408461"/>
            <a:ext cx="1286172" cy="1543496"/>
            <a:chOff x="0" y="0"/>
            <a:chExt cx="1714897" cy="205799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714881" cy="2058035"/>
            </a:xfrm>
            <a:custGeom>
              <a:avLst/>
              <a:gdLst/>
              <a:ahLst/>
              <a:cxnLst/>
              <a:rect r="r" b="b" t="t" l="l"/>
              <a:pathLst>
                <a:path h="2058035" w="1714881">
                  <a:moveTo>
                    <a:pt x="0" y="0"/>
                  </a:moveTo>
                  <a:lnTo>
                    <a:pt x="1714881" y="0"/>
                  </a:lnTo>
                  <a:lnTo>
                    <a:pt x="1714881" y="2058035"/>
                  </a:lnTo>
                  <a:lnTo>
                    <a:pt x="0" y="205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0" r="-3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43609" y="3637061"/>
            <a:ext cx="3215580" cy="4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2. Configuration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43609" y="4136231"/>
            <a:ext cx="14944130" cy="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Our engine instantly generates the corresponding Terraform configuration file based on the user's selections.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00261" y="4951959"/>
            <a:ext cx="1286172" cy="1543496"/>
            <a:chOff x="0" y="0"/>
            <a:chExt cx="1714897" cy="205799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714881" cy="2058035"/>
            </a:xfrm>
            <a:custGeom>
              <a:avLst/>
              <a:gdLst/>
              <a:ahLst/>
              <a:cxnLst/>
              <a:rect r="r" b="b" t="t" l="l"/>
              <a:pathLst>
                <a:path h="2058035" w="1714881">
                  <a:moveTo>
                    <a:pt x="0" y="0"/>
                  </a:moveTo>
                  <a:lnTo>
                    <a:pt x="1714881" y="0"/>
                  </a:lnTo>
                  <a:lnTo>
                    <a:pt x="1714881" y="2058035"/>
                  </a:lnTo>
                  <a:lnTo>
                    <a:pt x="0" y="205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t="0" r="-3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43609" y="5180559"/>
            <a:ext cx="3215580" cy="4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3. Execution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43609" y="5679727"/>
            <a:ext cx="14944130" cy="51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automation engine executes the terraform apply command using securely stored credentials.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00261" y="6495455"/>
            <a:ext cx="1286172" cy="1543496"/>
            <a:chOff x="0" y="0"/>
            <a:chExt cx="1714897" cy="205799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714881" cy="2058035"/>
            </a:xfrm>
            <a:custGeom>
              <a:avLst/>
              <a:gdLst/>
              <a:ahLst/>
              <a:cxnLst/>
              <a:rect r="r" b="b" t="t" l="l"/>
              <a:pathLst>
                <a:path h="2058035" w="1714881">
                  <a:moveTo>
                    <a:pt x="0" y="0"/>
                  </a:moveTo>
                  <a:lnTo>
                    <a:pt x="1714881" y="0"/>
                  </a:lnTo>
                  <a:lnTo>
                    <a:pt x="1714881" y="2058035"/>
                  </a:lnTo>
                  <a:lnTo>
                    <a:pt x="0" y="205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t="0" r="-3" b="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443609" y="6724055"/>
            <a:ext cx="3215580" cy="4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4. Provisioning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43609" y="7223224"/>
            <a:ext cx="14944130" cy="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Terraform communicates directly with the chosen cloud provider's API to provision the requested resource.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00261" y="8038951"/>
            <a:ext cx="1286172" cy="1543496"/>
            <a:chOff x="0" y="0"/>
            <a:chExt cx="1714897" cy="2057995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714881" cy="2058035"/>
            </a:xfrm>
            <a:custGeom>
              <a:avLst/>
              <a:gdLst/>
              <a:ahLst/>
              <a:cxnLst/>
              <a:rect r="r" b="b" t="t" l="l"/>
              <a:pathLst>
                <a:path h="2058035" w="1714881">
                  <a:moveTo>
                    <a:pt x="0" y="0"/>
                  </a:moveTo>
                  <a:lnTo>
                    <a:pt x="1714881" y="0"/>
                  </a:lnTo>
                  <a:lnTo>
                    <a:pt x="1714881" y="2058035"/>
                  </a:lnTo>
                  <a:lnTo>
                    <a:pt x="0" y="205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" t="0" r="-3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443609" y="8267551"/>
            <a:ext cx="3215580" cy="4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5. Completion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43609" y="8766721"/>
            <a:ext cx="14944130" cy="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dashboard updates in real-time, providing the user with immediate access details (e.g., public IP, connection string).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152276" y="29188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0325" y="1129904"/>
            <a:ext cx="8761214" cy="69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Value Proposition: Why This Matters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7938" y="2888307"/>
            <a:ext cx="3322587" cy="44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50"/>
              </a:lnSpc>
            </a:pPr>
            <a:r>
              <a:rPr lang="en-US" sz="256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Simplicity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325" y="3405931"/>
            <a:ext cx="4940201" cy="178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12"/>
              </a:lnSpc>
            </a:pPr>
            <a:r>
              <a:rPr lang="en-US" sz="2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Abstracts away the complex underlying infrastructure, enabling anyone, regardless of cloud expertise, to provision resources effortlessly.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269236" y="2866727"/>
            <a:ext cx="5749529" cy="5749529"/>
            <a:chOff x="0" y="0"/>
            <a:chExt cx="7666038" cy="766603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666101" cy="7666101"/>
            </a:xfrm>
            <a:custGeom>
              <a:avLst/>
              <a:gdLst/>
              <a:ahLst/>
              <a:cxnLst/>
              <a:rect r="r" b="b" t="t" l="l"/>
              <a:pathLst>
                <a:path h="7666101" w="7666101">
                  <a:moveTo>
                    <a:pt x="0" y="0"/>
                  </a:moveTo>
                  <a:lnTo>
                    <a:pt x="7666101" y="0"/>
                  </a:lnTo>
                  <a:lnTo>
                    <a:pt x="7666101" y="7666101"/>
                  </a:lnTo>
                  <a:lnTo>
                    <a:pt x="0" y="766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544619" y="3923927"/>
            <a:ext cx="397669" cy="62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17475" y="2326035"/>
            <a:ext cx="3322587" cy="44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Consistency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17475" y="2843659"/>
            <a:ext cx="4940201" cy="178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Enforces standardized configurations, eliminating human error and ensuring that all environments remain identical and stable.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269236" y="2866727"/>
            <a:ext cx="5749529" cy="5749529"/>
            <a:chOff x="0" y="0"/>
            <a:chExt cx="7666038" cy="766603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666101" cy="7666101"/>
            </a:xfrm>
            <a:custGeom>
              <a:avLst/>
              <a:gdLst/>
              <a:ahLst/>
              <a:cxnLst/>
              <a:rect r="r" b="b" t="t" l="l"/>
              <a:pathLst>
                <a:path h="7666101" w="7666101">
                  <a:moveTo>
                    <a:pt x="0" y="0"/>
                  </a:moveTo>
                  <a:lnTo>
                    <a:pt x="7666101" y="0"/>
                  </a:lnTo>
                  <a:lnTo>
                    <a:pt x="7666101" y="7666101"/>
                  </a:lnTo>
                  <a:lnTo>
                    <a:pt x="0" y="766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86577" y="3590552"/>
            <a:ext cx="397669" cy="62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0378" y="5000327"/>
            <a:ext cx="3322587" cy="44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Speed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50378" y="5517951"/>
            <a:ext cx="4807298" cy="136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Reduces provisioning time from hours to mere minutes, accelerating development cycles and deployment speeds.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269236" y="2866727"/>
            <a:ext cx="5749529" cy="5749529"/>
            <a:chOff x="0" y="0"/>
            <a:chExt cx="7666038" cy="766603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666101" cy="7666101"/>
            </a:xfrm>
            <a:custGeom>
              <a:avLst/>
              <a:gdLst/>
              <a:ahLst/>
              <a:cxnLst/>
              <a:rect r="r" b="b" t="t" l="l"/>
              <a:pathLst>
                <a:path h="7666101" w="7666101">
                  <a:moveTo>
                    <a:pt x="0" y="0"/>
                  </a:moveTo>
                  <a:lnTo>
                    <a:pt x="7666101" y="0"/>
                  </a:lnTo>
                  <a:lnTo>
                    <a:pt x="7666101" y="7666101"/>
                  </a:lnTo>
                  <a:lnTo>
                    <a:pt x="0" y="766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927332" y="5714925"/>
            <a:ext cx="397669" cy="62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17475" y="7249417"/>
            <a:ext cx="3817887" cy="44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Reduced Learning Curve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17475" y="7767042"/>
            <a:ext cx="4940201" cy="136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New team members can be productive on day one, as extensive training on multiple cloud ecosystems is no longer required.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269236" y="2866727"/>
            <a:ext cx="5749529" cy="5749529"/>
            <a:chOff x="0" y="0"/>
            <a:chExt cx="7666038" cy="766603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666101" cy="7666101"/>
            </a:xfrm>
            <a:custGeom>
              <a:avLst/>
              <a:gdLst/>
              <a:ahLst/>
              <a:cxnLst/>
              <a:rect r="r" b="b" t="t" l="l"/>
              <a:pathLst>
                <a:path h="7666101" w="7666101">
                  <a:moveTo>
                    <a:pt x="0" y="0"/>
                  </a:moveTo>
                  <a:lnTo>
                    <a:pt x="7666101" y="0"/>
                  </a:lnTo>
                  <a:lnTo>
                    <a:pt x="7666101" y="7666101"/>
                  </a:lnTo>
                  <a:lnTo>
                    <a:pt x="0" y="766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228609" y="7361262"/>
            <a:ext cx="397669" cy="62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47938" y="6474470"/>
            <a:ext cx="3322587" cy="44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50"/>
              </a:lnSpc>
            </a:pPr>
            <a:r>
              <a:rPr lang="en-US" sz="256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Cost Efficiency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0325" y="6992094"/>
            <a:ext cx="4940201" cy="178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12"/>
              </a:lnSpc>
            </a:pPr>
            <a:r>
              <a:rPr lang="en-US" sz="2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Minimizes manual mistakes, optimizes resource utilization, and helps prevent over-provisioning, leading to significant cost savings.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6269236" y="2866727"/>
            <a:ext cx="5749529" cy="5749529"/>
            <a:chOff x="0" y="0"/>
            <a:chExt cx="7666038" cy="7666038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666101" cy="7666101"/>
            </a:xfrm>
            <a:custGeom>
              <a:avLst/>
              <a:gdLst/>
              <a:ahLst/>
              <a:cxnLst/>
              <a:rect r="r" b="b" t="t" l="l"/>
              <a:pathLst>
                <a:path h="7666101" w="7666101">
                  <a:moveTo>
                    <a:pt x="0" y="0"/>
                  </a:moveTo>
                  <a:lnTo>
                    <a:pt x="7666101" y="0"/>
                  </a:lnTo>
                  <a:lnTo>
                    <a:pt x="7666101" y="7666101"/>
                  </a:lnTo>
                  <a:lnTo>
                    <a:pt x="0" y="766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137871" y="6254279"/>
            <a:ext cx="397669" cy="62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152276" y="29188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2493317"/>
            <a:ext cx="10642936" cy="70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Target Audience: Who Benefits Most?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778598"/>
            <a:ext cx="5283547" cy="4005411"/>
            <a:chOff x="0" y="0"/>
            <a:chExt cx="7044730" cy="53405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993890" cy="5289677"/>
            </a:xfrm>
            <a:custGeom>
              <a:avLst/>
              <a:gdLst/>
              <a:ahLst/>
              <a:cxnLst/>
              <a:rect r="r" b="b" t="t" l="l"/>
              <a:pathLst>
                <a:path h="5289677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5130927"/>
                  </a:lnTo>
                  <a:cubicBezTo>
                    <a:pt x="6993890" y="5218684"/>
                    <a:pt x="6922643" y="5289677"/>
                    <a:pt x="6834759" y="5289677"/>
                  </a:cubicBezTo>
                  <a:lnTo>
                    <a:pt x="159131" y="5289677"/>
                  </a:lnTo>
                  <a:cubicBezTo>
                    <a:pt x="71247" y="5289677"/>
                    <a:pt x="0" y="5218557"/>
                    <a:pt x="0" y="51309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690" cy="5340604"/>
            </a:xfrm>
            <a:custGeom>
              <a:avLst/>
              <a:gdLst/>
              <a:ahLst/>
              <a:cxnLst/>
              <a:rect r="r" b="b" t="t" l="l"/>
              <a:pathLst>
                <a:path h="5340604" w="7044690">
                  <a:moveTo>
                    <a:pt x="0" y="184150"/>
                  </a:moveTo>
                  <a:cubicBezTo>
                    <a:pt x="0" y="82423"/>
                    <a:pt x="82677" y="0"/>
                    <a:pt x="184531" y="0"/>
                  </a:cubicBezTo>
                  <a:lnTo>
                    <a:pt x="6860159" y="0"/>
                  </a:lnTo>
                  <a:lnTo>
                    <a:pt x="6860159" y="25400"/>
                  </a:lnTo>
                  <a:lnTo>
                    <a:pt x="6860159" y="0"/>
                  </a:lnTo>
                  <a:cubicBezTo>
                    <a:pt x="6962013" y="0"/>
                    <a:pt x="7044690" y="82423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5156327"/>
                  </a:lnTo>
                  <a:lnTo>
                    <a:pt x="7019290" y="5156327"/>
                  </a:lnTo>
                  <a:lnTo>
                    <a:pt x="7044690" y="5156327"/>
                  </a:lnTo>
                  <a:cubicBezTo>
                    <a:pt x="7044690" y="5258054"/>
                    <a:pt x="6962013" y="5340477"/>
                    <a:pt x="6860159" y="5340477"/>
                  </a:cubicBezTo>
                  <a:lnTo>
                    <a:pt x="6860159" y="5315077"/>
                  </a:lnTo>
                  <a:lnTo>
                    <a:pt x="6860159" y="5340477"/>
                  </a:lnTo>
                  <a:lnTo>
                    <a:pt x="184531" y="5340477"/>
                  </a:lnTo>
                  <a:lnTo>
                    <a:pt x="184531" y="5315077"/>
                  </a:lnTo>
                  <a:lnTo>
                    <a:pt x="184531" y="5340477"/>
                  </a:lnTo>
                  <a:cubicBezTo>
                    <a:pt x="82677" y="5340604"/>
                    <a:pt x="0" y="5258181"/>
                    <a:pt x="0" y="51563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5156327"/>
                  </a:lnTo>
                  <a:lnTo>
                    <a:pt x="25400" y="5156327"/>
                  </a:lnTo>
                  <a:lnTo>
                    <a:pt x="50800" y="5156327"/>
                  </a:lnTo>
                  <a:cubicBezTo>
                    <a:pt x="50800" y="5229987"/>
                    <a:pt x="110617" y="5289677"/>
                    <a:pt x="184531" y="5289677"/>
                  </a:cubicBezTo>
                  <a:lnTo>
                    <a:pt x="6860159" y="5289677"/>
                  </a:lnTo>
                  <a:cubicBezTo>
                    <a:pt x="6934073" y="5289677"/>
                    <a:pt x="6993890" y="5229860"/>
                    <a:pt x="6993890" y="5156327"/>
                  </a:cubicBezTo>
                  <a:lnTo>
                    <a:pt x="6993890" y="184150"/>
                  </a:lnTo>
                  <a:cubicBezTo>
                    <a:pt x="6993890" y="110490"/>
                    <a:pt x="6934073" y="50800"/>
                    <a:pt x="6860159" y="50800"/>
                  </a:cubicBezTo>
                  <a:lnTo>
                    <a:pt x="184531" y="50800"/>
                  </a:lnTo>
                  <a:lnTo>
                    <a:pt x="184531" y="25400"/>
                  </a:lnTo>
                  <a:lnTo>
                    <a:pt x="184531" y="50800"/>
                  </a:lnTo>
                  <a:cubicBezTo>
                    <a:pt x="110617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85342" y="4090690"/>
            <a:ext cx="3659089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Developers &amp; Startups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855" y="4637037"/>
            <a:ext cx="4602212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For those who need to quickly spin up infrastructure without the overhead of a dedicated DevOps team. Focus on coding, not cloud configuration.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02152" y="3778598"/>
            <a:ext cx="5283547" cy="4005411"/>
            <a:chOff x="0" y="0"/>
            <a:chExt cx="7044730" cy="5340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993890" cy="5289677"/>
            </a:xfrm>
            <a:custGeom>
              <a:avLst/>
              <a:gdLst/>
              <a:ahLst/>
              <a:cxnLst/>
              <a:rect r="r" b="b" t="t" l="l"/>
              <a:pathLst>
                <a:path h="5289677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5130927"/>
                  </a:lnTo>
                  <a:cubicBezTo>
                    <a:pt x="6993890" y="5218684"/>
                    <a:pt x="6922643" y="5289677"/>
                    <a:pt x="6834759" y="5289677"/>
                  </a:cubicBezTo>
                  <a:lnTo>
                    <a:pt x="159131" y="5289677"/>
                  </a:lnTo>
                  <a:cubicBezTo>
                    <a:pt x="71247" y="5289677"/>
                    <a:pt x="0" y="5218557"/>
                    <a:pt x="0" y="51309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4690" cy="5340604"/>
            </a:xfrm>
            <a:custGeom>
              <a:avLst/>
              <a:gdLst/>
              <a:ahLst/>
              <a:cxnLst/>
              <a:rect r="r" b="b" t="t" l="l"/>
              <a:pathLst>
                <a:path h="5340604" w="7044690">
                  <a:moveTo>
                    <a:pt x="0" y="184150"/>
                  </a:moveTo>
                  <a:cubicBezTo>
                    <a:pt x="0" y="82423"/>
                    <a:pt x="82677" y="0"/>
                    <a:pt x="184531" y="0"/>
                  </a:cubicBezTo>
                  <a:lnTo>
                    <a:pt x="6860159" y="0"/>
                  </a:lnTo>
                  <a:lnTo>
                    <a:pt x="6860159" y="25400"/>
                  </a:lnTo>
                  <a:lnTo>
                    <a:pt x="6860159" y="0"/>
                  </a:lnTo>
                  <a:cubicBezTo>
                    <a:pt x="6962013" y="0"/>
                    <a:pt x="7044690" y="82423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5156327"/>
                  </a:lnTo>
                  <a:lnTo>
                    <a:pt x="7019290" y="5156327"/>
                  </a:lnTo>
                  <a:lnTo>
                    <a:pt x="7044690" y="5156327"/>
                  </a:lnTo>
                  <a:cubicBezTo>
                    <a:pt x="7044690" y="5258054"/>
                    <a:pt x="6962013" y="5340477"/>
                    <a:pt x="6860159" y="5340477"/>
                  </a:cubicBezTo>
                  <a:lnTo>
                    <a:pt x="6860159" y="5315077"/>
                  </a:lnTo>
                  <a:lnTo>
                    <a:pt x="6860159" y="5340477"/>
                  </a:lnTo>
                  <a:lnTo>
                    <a:pt x="184531" y="5340477"/>
                  </a:lnTo>
                  <a:lnTo>
                    <a:pt x="184531" y="5315077"/>
                  </a:lnTo>
                  <a:lnTo>
                    <a:pt x="184531" y="5340477"/>
                  </a:lnTo>
                  <a:cubicBezTo>
                    <a:pt x="82677" y="5340604"/>
                    <a:pt x="0" y="5258181"/>
                    <a:pt x="0" y="51563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5156327"/>
                  </a:lnTo>
                  <a:lnTo>
                    <a:pt x="25400" y="5156327"/>
                  </a:lnTo>
                  <a:lnTo>
                    <a:pt x="50800" y="5156327"/>
                  </a:lnTo>
                  <a:cubicBezTo>
                    <a:pt x="50800" y="5229987"/>
                    <a:pt x="110617" y="5289677"/>
                    <a:pt x="184531" y="5289677"/>
                  </a:cubicBezTo>
                  <a:lnTo>
                    <a:pt x="6860159" y="5289677"/>
                  </a:lnTo>
                  <a:cubicBezTo>
                    <a:pt x="6934073" y="5289677"/>
                    <a:pt x="6993890" y="5229860"/>
                    <a:pt x="6993890" y="5156327"/>
                  </a:cubicBezTo>
                  <a:lnTo>
                    <a:pt x="6993890" y="184150"/>
                  </a:lnTo>
                  <a:cubicBezTo>
                    <a:pt x="6993890" y="110490"/>
                    <a:pt x="6934073" y="50800"/>
                    <a:pt x="6860159" y="50800"/>
                  </a:cubicBezTo>
                  <a:lnTo>
                    <a:pt x="184531" y="50800"/>
                  </a:lnTo>
                  <a:lnTo>
                    <a:pt x="184531" y="25400"/>
                  </a:lnTo>
                  <a:lnTo>
                    <a:pt x="184531" y="50800"/>
                  </a:lnTo>
                  <a:cubicBezTo>
                    <a:pt x="110617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371904" y="4090690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DevOps Engineers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42820" y="4637037"/>
            <a:ext cx="4602212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Empowers experienced professionals to streamline their workflows, automate repetitive tasks, and focus on higher-value strategic initiatives.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31116" y="3778598"/>
            <a:ext cx="5283547" cy="4005411"/>
            <a:chOff x="0" y="0"/>
            <a:chExt cx="7044730" cy="53405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6993890" cy="5289677"/>
            </a:xfrm>
            <a:custGeom>
              <a:avLst/>
              <a:gdLst/>
              <a:ahLst/>
              <a:cxnLst/>
              <a:rect r="r" b="b" t="t" l="l"/>
              <a:pathLst>
                <a:path h="5289677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5130927"/>
                  </a:lnTo>
                  <a:cubicBezTo>
                    <a:pt x="6993890" y="5218684"/>
                    <a:pt x="6922643" y="5289677"/>
                    <a:pt x="6834759" y="5289677"/>
                  </a:cubicBezTo>
                  <a:lnTo>
                    <a:pt x="159131" y="5289677"/>
                  </a:lnTo>
                  <a:cubicBezTo>
                    <a:pt x="71247" y="5289677"/>
                    <a:pt x="0" y="5218557"/>
                    <a:pt x="0" y="51309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4690" cy="5340604"/>
            </a:xfrm>
            <a:custGeom>
              <a:avLst/>
              <a:gdLst/>
              <a:ahLst/>
              <a:cxnLst/>
              <a:rect r="r" b="b" t="t" l="l"/>
              <a:pathLst>
                <a:path h="5340604" w="7044690">
                  <a:moveTo>
                    <a:pt x="0" y="184150"/>
                  </a:moveTo>
                  <a:cubicBezTo>
                    <a:pt x="0" y="82423"/>
                    <a:pt x="82677" y="0"/>
                    <a:pt x="184531" y="0"/>
                  </a:cubicBezTo>
                  <a:lnTo>
                    <a:pt x="6860159" y="0"/>
                  </a:lnTo>
                  <a:lnTo>
                    <a:pt x="6860159" y="25400"/>
                  </a:lnTo>
                  <a:lnTo>
                    <a:pt x="6860159" y="0"/>
                  </a:lnTo>
                  <a:cubicBezTo>
                    <a:pt x="6962013" y="0"/>
                    <a:pt x="7044690" y="82423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5156327"/>
                  </a:lnTo>
                  <a:lnTo>
                    <a:pt x="7019290" y="5156327"/>
                  </a:lnTo>
                  <a:lnTo>
                    <a:pt x="7044690" y="5156327"/>
                  </a:lnTo>
                  <a:cubicBezTo>
                    <a:pt x="7044690" y="5258054"/>
                    <a:pt x="6962013" y="5340477"/>
                    <a:pt x="6860159" y="5340477"/>
                  </a:cubicBezTo>
                  <a:lnTo>
                    <a:pt x="6860159" y="5315077"/>
                  </a:lnTo>
                  <a:lnTo>
                    <a:pt x="6860159" y="5340477"/>
                  </a:lnTo>
                  <a:lnTo>
                    <a:pt x="184531" y="5340477"/>
                  </a:lnTo>
                  <a:lnTo>
                    <a:pt x="184531" y="5315077"/>
                  </a:lnTo>
                  <a:lnTo>
                    <a:pt x="184531" y="5340477"/>
                  </a:lnTo>
                  <a:cubicBezTo>
                    <a:pt x="82677" y="5340604"/>
                    <a:pt x="0" y="5258181"/>
                    <a:pt x="0" y="51563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5156327"/>
                  </a:lnTo>
                  <a:lnTo>
                    <a:pt x="25400" y="5156327"/>
                  </a:lnTo>
                  <a:lnTo>
                    <a:pt x="50800" y="5156327"/>
                  </a:lnTo>
                  <a:cubicBezTo>
                    <a:pt x="50800" y="5229987"/>
                    <a:pt x="110617" y="5289677"/>
                    <a:pt x="184531" y="5289677"/>
                  </a:cubicBezTo>
                  <a:lnTo>
                    <a:pt x="6860159" y="5289677"/>
                  </a:lnTo>
                  <a:cubicBezTo>
                    <a:pt x="6934073" y="5289677"/>
                    <a:pt x="6993890" y="5229860"/>
                    <a:pt x="6993890" y="5156327"/>
                  </a:cubicBezTo>
                  <a:lnTo>
                    <a:pt x="6993890" y="184150"/>
                  </a:lnTo>
                  <a:cubicBezTo>
                    <a:pt x="6993890" y="110490"/>
                    <a:pt x="6934073" y="50800"/>
                    <a:pt x="6860159" y="50800"/>
                  </a:cubicBezTo>
                  <a:lnTo>
                    <a:pt x="184531" y="50800"/>
                  </a:lnTo>
                  <a:lnTo>
                    <a:pt x="184531" y="25400"/>
                  </a:lnTo>
                  <a:lnTo>
                    <a:pt x="184531" y="50800"/>
                  </a:lnTo>
                  <a:cubicBezTo>
                    <a:pt x="110617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71784" y="4090690"/>
            <a:ext cx="460221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Small to Medium Businesses (SMBs)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71784" y="5079950"/>
            <a:ext cx="4602213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Offers a simple, cost-effective, and centralized way to manage their multi-cloud presence without needing extensive in-house cloud expertise.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152276" y="29188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1926580"/>
            <a:ext cx="13920324" cy="70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Roadmap: What's Next for Cloud Simplify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5" y="3226148"/>
            <a:ext cx="16313051" cy="5110460"/>
            <a:chOff x="0" y="0"/>
            <a:chExt cx="21750735" cy="68139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21738082" cy="6801231"/>
            </a:xfrm>
            <a:custGeom>
              <a:avLst/>
              <a:gdLst/>
              <a:ahLst/>
              <a:cxnLst/>
              <a:rect r="r" b="b" t="t" l="l"/>
              <a:pathLst>
                <a:path h="6801231" w="21738082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21579078" y="0"/>
                  </a:lnTo>
                  <a:cubicBezTo>
                    <a:pt x="21666836" y="0"/>
                    <a:pt x="21738082" y="71120"/>
                    <a:pt x="21738082" y="158750"/>
                  </a:cubicBezTo>
                  <a:lnTo>
                    <a:pt x="21738082" y="6642481"/>
                  </a:lnTo>
                  <a:cubicBezTo>
                    <a:pt x="21738082" y="6730238"/>
                    <a:pt x="21666836" y="6801231"/>
                    <a:pt x="21579078" y="6801231"/>
                  </a:cubicBezTo>
                  <a:lnTo>
                    <a:pt x="159004" y="6801231"/>
                  </a:lnTo>
                  <a:cubicBezTo>
                    <a:pt x="71247" y="6801231"/>
                    <a:pt x="0" y="6730112"/>
                    <a:pt x="0" y="6642481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0782" cy="6813931"/>
            </a:xfrm>
            <a:custGeom>
              <a:avLst/>
              <a:gdLst/>
              <a:ahLst/>
              <a:cxnLst/>
              <a:rect r="r" b="b" t="t" l="l"/>
              <a:pathLst>
                <a:path h="6813931" w="21750782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6648831"/>
                  </a:lnTo>
                  <a:lnTo>
                    <a:pt x="21744432" y="6648831"/>
                  </a:lnTo>
                  <a:lnTo>
                    <a:pt x="21750782" y="6648831"/>
                  </a:lnTo>
                  <a:cubicBezTo>
                    <a:pt x="21750782" y="6740017"/>
                    <a:pt x="21676742" y="6813931"/>
                    <a:pt x="21585428" y="6813931"/>
                  </a:cubicBezTo>
                  <a:lnTo>
                    <a:pt x="21585428" y="6807581"/>
                  </a:lnTo>
                  <a:lnTo>
                    <a:pt x="21585428" y="6813931"/>
                  </a:lnTo>
                  <a:lnTo>
                    <a:pt x="165354" y="6813931"/>
                  </a:lnTo>
                  <a:lnTo>
                    <a:pt x="165354" y="6807581"/>
                  </a:lnTo>
                  <a:lnTo>
                    <a:pt x="165354" y="6813931"/>
                  </a:lnTo>
                  <a:cubicBezTo>
                    <a:pt x="74041" y="6813931"/>
                    <a:pt x="0" y="6740017"/>
                    <a:pt x="0" y="664883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648831"/>
                  </a:lnTo>
                  <a:lnTo>
                    <a:pt x="6350" y="6648831"/>
                  </a:lnTo>
                  <a:lnTo>
                    <a:pt x="12700" y="6648831"/>
                  </a:lnTo>
                  <a:cubicBezTo>
                    <a:pt x="12700" y="6733032"/>
                    <a:pt x="81026" y="6801231"/>
                    <a:pt x="165354" y="6801231"/>
                  </a:cubicBezTo>
                  <a:lnTo>
                    <a:pt x="21585428" y="6801231"/>
                  </a:lnTo>
                  <a:cubicBezTo>
                    <a:pt x="21669756" y="6801231"/>
                    <a:pt x="21738082" y="6732905"/>
                    <a:pt x="21738082" y="6648831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1762" y="3240435"/>
            <a:ext cx="8142237" cy="2540942"/>
            <a:chOff x="0" y="0"/>
            <a:chExt cx="10856317" cy="33879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56214" cy="3387852"/>
            </a:xfrm>
            <a:custGeom>
              <a:avLst/>
              <a:gdLst/>
              <a:ahLst/>
              <a:cxnLst/>
              <a:rect r="r" b="b" t="t" l="l"/>
              <a:pathLst>
                <a:path h="3387852" w="10856214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697464" y="0"/>
                  </a:lnTo>
                  <a:cubicBezTo>
                    <a:pt x="10785221" y="0"/>
                    <a:pt x="10856214" y="71120"/>
                    <a:pt x="10856214" y="158750"/>
                  </a:cubicBezTo>
                  <a:lnTo>
                    <a:pt x="10856214" y="3229102"/>
                  </a:lnTo>
                  <a:cubicBezTo>
                    <a:pt x="10856214" y="3316859"/>
                    <a:pt x="10785094" y="3387852"/>
                    <a:pt x="10697464" y="3387852"/>
                  </a:cubicBezTo>
                  <a:lnTo>
                    <a:pt x="158750" y="3387852"/>
                  </a:lnTo>
                  <a:cubicBezTo>
                    <a:pt x="70993" y="3387852"/>
                    <a:pt x="0" y="3316732"/>
                    <a:pt x="0" y="322910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5280" y="3495377"/>
            <a:ext cx="413861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Expanded Cloud Support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280" y="4041725"/>
            <a:ext cx="7150001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Adding support for additional major cloud providers including Oracle Cloud (OCI), Alibaba Cloud, and DigitalOcean to broaden our reach.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3240435"/>
            <a:ext cx="8142237" cy="2540942"/>
            <a:chOff x="0" y="0"/>
            <a:chExt cx="10856317" cy="33879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56341" cy="3387979"/>
            </a:xfrm>
            <a:custGeom>
              <a:avLst/>
              <a:gdLst/>
              <a:ahLst/>
              <a:cxnLst/>
              <a:rect r="r" b="b" t="t" l="l"/>
              <a:pathLst>
                <a:path h="3387979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3387979"/>
                  </a:lnTo>
                  <a:lnTo>
                    <a:pt x="0" y="3387979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3240435"/>
            <a:ext cx="38100" cy="2540942"/>
            <a:chOff x="0" y="0"/>
            <a:chExt cx="50800" cy="33879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3387979"/>
            </a:xfrm>
            <a:custGeom>
              <a:avLst/>
              <a:gdLst/>
              <a:ahLst/>
              <a:cxnLst/>
              <a:rect r="r" b="b" t="t" l="l"/>
              <a:pathLst>
                <a:path h="338797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362579"/>
                  </a:lnTo>
                  <a:cubicBezTo>
                    <a:pt x="50800" y="3376549"/>
                    <a:pt x="39370" y="3387979"/>
                    <a:pt x="25400" y="3387979"/>
                  </a:cubicBezTo>
                  <a:cubicBezTo>
                    <a:pt x="11430" y="3387979"/>
                    <a:pt x="0" y="3376549"/>
                    <a:pt x="0" y="336257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52720" y="3495377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Service Catalog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2720" y="4041725"/>
            <a:ext cx="7150001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Introducing a comprehensive library of pre-configured templates for common stacks like LAMP, Kubernetes clusters, and more, for rapid deployment.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770590" y="4137422"/>
            <a:ext cx="746820" cy="746820"/>
            <a:chOff x="0" y="0"/>
            <a:chExt cx="995760" cy="995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944880" cy="945007"/>
            </a:xfrm>
            <a:custGeom>
              <a:avLst/>
              <a:gdLst/>
              <a:ahLst/>
              <a:cxnLst/>
              <a:rect r="r" b="b" t="t" l="l"/>
              <a:pathLst>
                <a:path h="945007" w="94488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786130" y="0"/>
                  </a:lnTo>
                  <a:cubicBezTo>
                    <a:pt x="873760" y="0"/>
                    <a:pt x="944880" y="71120"/>
                    <a:pt x="944880" y="158750"/>
                  </a:cubicBezTo>
                  <a:lnTo>
                    <a:pt x="944880" y="786130"/>
                  </a:lnTo>
                  <a:cubicBezTo>
                    <a:pt x="944880" y="873760"/>
                    <a:pt x="873760" y="944880"/>
                    <a:pt x="786130" y="944880"/>
                  </a:cubicBezTo>
                  <a:lnTo>
                    <a:pt x="158750" y="944880"/>
                  </a:lnTo>
                  <a:cubicBezTo>
                    <a:pt x="71120" y="945007"/>
                    <a:pt x="0" y="873887"/>
                    <a:pt x="0" y="78613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5680" cy="995807"/>
            </a:xfrm>
            <a:custGeom>
              <a:avLst/>
              <a:gdLst/>
              <a:ahLst/>
              <a:cxnLst/>
              <a:rect r="r" b="b" t="t" l="l"/>
              <a:pathLst>
                <a:path h="995807" w="9956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811530" y="0"/>
                  </a:lnTo>
                  <a:lnTo>
                    <a:pt x="811530" y="25400"/>
                  </a:lnTo>
                  <a:lnTo>
                    <a:pt x="811530" y="0"/>
                  </a:lnTo>
                  <a:cubicBezTo>
                    <a:pt x="913257" y="0"/>
                    <a:pt x="995680" y="82423"/>
                    <a:pt x="995680" y="184150"/>
                  </a:cubicBezTo>
                  <a:lnTo>
                    <a:pt x="970280" y="184150"/>
                  </a:lnTo>
                  <a:lnTo>
                    <a:pt x="995680" y="184150"/>
                  </a:lnTo>
                  <a:lnTo>
                    <a:pt x="995680" y="811530"/>
                  </a:lnTo>
                  <a:lnTo>
                    <a:pt x="970280" y="811530"/>
                  </a:lnTo>
                  <a:lnTo>
                    <a:pt x="995680" y="811530"/>
                  </a:lnTo>
                  <a:cubicBezTo>
                    <a:pt x="995680" y="913257"/>
                    <a:pt x="913257" y="995680"/>
                    <a:pt x="811530" y="995680"/>
                  </a:cubicBezTo>
                  <a:lnTo>
                    <a:pt x="811530" y="970280"/>
                  </a:lnTo>
                  <a:lnTo>
                    <a:pt x="811530" y="995680"/>
                  </a:lnTo>
                  <a:lnTo>
                    <a:pt x="184150" y="995680"/>
                  </a:lnTo>
                  <a:lnTo>
                    <a:pt x="184150" y="970280"/>
                  </a:lnTo>
                  <a:lnTo>
                    <a:pt x="184150" y="995680"/>
                  </a:lnTo>
                  <a:cubicBezTo>
                    <a:pt x="82423" y="995807"/>
                    <a:pt x="0" y="913257"/>
                    <a:pt x="0" y="811530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811530"/>
                  </a:lnTo>
                  <a:lnTo>
                    <a:pt x="25400" y="811530"/>
                  </a:lnTo>
                  <a:lnTo>
                    <a:pt x="50800" y="811530"/>
                  </a:lnTo>
                  <a:cubicBezTo>
                    <a:pt x="50800" y="885190"/>
                    <a:pt x="110490" y="944880"/>
                    <a:pt x="184150" y="944880"/>
                  </a:cubicBezTo>
                  <a:lnTo>
                    <a:pt x="811530" y="944880"/>
                  </a:lnTo>
                  <a:cubicBezTo>
                    <a:pt x="885190" y="944880"/>
                    <a:pt x="944880" y="885190"/>
                    <a:pt x="944880" y="811530"/>
                  </a:cubicBezTo>
                  <a:lnTo>
                    <a:pt x="944880" y="184150"/>
                  </a:lnTo>
                  <a:cubicBezTo>
                    <a:pt x="945007" y="110490"/>
                    <a:pt x="885190" y="50800"/>
                    <a:pt x="811530" y="50800"/>
                  </a:cubicBezTo>
                  <a:lnTo>
                    <a:pt x="184150" y="50800"/>
                  </a:lnTo>
                  <a:lnTo>
                    <a:pt x="184150" y="25400"/>
                  </a:lnTo>
                  <a:lnTo>
                    <a:pt x="184150" y="50800"/>
                  </a:lnTo>
                  <a:cubicBezTo>
                    <a:pt x="110490" y="50800"/>
                    <a:pt x="50800" y="110490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8966746" y="4289375"/>
            <a:ext cx="354360" cy="442912"/>
            <a:chOff x="0" y="0"/>
            <a:chExt cx="472480" cy="59055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2440" cy="590550"/>
            </a:xfrm>
            <a:custGeom>
              <a:avLst/>
              <a:gdLst/>
              <a:ahLst/>
              <a:cxnLst/>
              <a:rect r="r" b="b" t="t" l="l"/>
              <a:pathLst>
                <a:path h="590550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15" r="-8" b="-8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1762" y="5781377"/>
            <a:ext cx="8142237" cy="2540943"/>
            <a:chOff x="0" y="0"/>
            <a:chExt cx="10856317" cy="33879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56341" cy="3387979"/>
            </a:xfrm>
            <a:custGeom>
              <a:avLst/>
              <a:gdLst/>
              <a:ahLst/>
              <a:cxnLst/>
              <a:rect r="r" b="b" t="t" l="l"/>
              <a:pathLst>
                <a:path h="3387979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3387979"/>
                  </a:lnTo>
                  <a:lnTo>
                    <a:pt x="0" y="3387979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1762" y="5781377"/>
            <a:ext cx="8142237" cy="38100"/>
            <a:chOff x="0" y="0"/>
            <a:chExt cx="10856317" cy="5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56341" cy="50800"/>
            </a:xfrm>
            <a:custGeom>
              <a:avLst/>
              <a:gdLst/>
              <a:ahLst/>
              <a:cxnLst/>
              <a:rect r="r" b="b" t="t" l="l"/>
              <a:pathLst>
                <a:path h="50800" w="1085634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941" y="0"/>
                  </a:lnTo>
                  <a:cubicBezTo>
                    <a:pt x="10844911" y="0"/>
                    <a:pt x="10856341" y="11430"/>
                    <a:pt x="10856341" y="25400"/>
                  </a:cubicBezTo>
                  <a:cubicBezTo>
                    <a:pt x="10856341" y="39370"/>
                    <a:pt x="10844911" y="50800"/>
                    <a:pt x="10830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85280" y="6036320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Cost Management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5280" y="6582667"/>
            <a:ext cx="7150001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Integrating robust cost monitoring and optimization features directly into the platform to help users better track and control their cloud spend.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0" y="5781377"/>
            <a:ext cx="8142237" cy="2540943"/>
            <a:chOff x="0" y="0"/>
            <a:chExt cx="10856317" cy="33879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56341" cy="3387979"/>
            </a:xfrm>
            <a:custGeom>
              <a:avLst/>
              <a:gdLst/>
              <a:ahLst/>
              <a:cxnLst/>
              <a:rect r="r" b="b" t="t" l="l"/>
              <a:pathLst>
                <a:path h="3387979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3387979"/>
                  </a:lnTo>
                  <a:lnTo>
                    <a:pt x="0" y="3387979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0" y="5781377"/>
            <a:ext cx="38100" cy="2540943"/>
            <a:chOff x="0" y="0"/>
            <a:chExt cx="50800" cy="33879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800" cy="3387979"/>
            </a:xfrm>
            <a:custGeom>
              <a:avLst/>
              <a:gdLst/>
              <a:ahLst/>
              <a:cxnLst/>
              <a:rect r="r" b="b" t="t" l="l"/>
              <a:pathLst>
                <a:path h="338797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362579"/>
                  </a:lnTo>
                  <a:cubicBezTo>
                    <a:pt x="50800" y="3376549"/>
                    <a:pt x="39370" y="3387979"/>
                    <a:pt x="25400" y="3387979"/>
                  </a:cubicBezTo>
                  <a:cubicBezTo>
                    <a:pt x="11430" y="3387979"/>
                    <a:pt x="0" y="3376549"/>
                    <a:pt x="0" y="336257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0" y="5781377"/>
            <a:ext cx="8142237" cy="38100"/>
            <a:chOff x="0" y="0"/>
            <a:chExt cx="10856317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56341" cy="50800"/>
            </a:xfrm>
            <a:custGeom>
              <a:avLst/>
              <a:gdLst/>
              <a:ahLst/>
              <a:cxnLst/>
              <a:rect r="r" b="b" t="t" l="l"/>
              <a:pathLst>
                <a:path h="50800" w="1085634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941" y="0"/>
                  </a:lnTo>
                  <a:cubicBezTo>
                    <a:pt x="10844911" y="0"/>
                    <a:pt x="10856341" y="11430"/>
                    <a:pt x="10856341" y="25400"/>
                  </a:cubicBezTo>
                  <a:cubicBezTo>
                    <a:pt x="10856341" y="39370"/>
                    <a:pt x="10844911" y="50800"/>
                    <a:pt x="10830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852720" y="6036320"/>
            <a:ext cx="4127748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Code-Based Provisioning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52720" y="6582667"/>
            <a:ext cx="7150001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Allowing advanced users the flexibility to upload and manage their own custom Terraform configurations directly through the platform.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770590" y="6678365"/>
            <a:ext cx="746820" cy="746820"/>
            <a:chOff x="0" y="0"/>
            <a:chExt cx="995760" cy="9957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5400" y="25400"/>
              <a:ext cx="944880" cy="945007"/>
            </a:xfrm>
            <a:custGeom>
              <a:avLst/>
              <a:gdLst/>
              <a:ahLst/>
              <a:cxnLst/>
              <a:rect r="r" b="b" t="t" l="l"/>
              <a:pathLst>
                <a:path h="945007" w="94488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786130" y="0"/>
                  </a:lnTo>
                  <a:cubicBezTo>
                    <a:pt x="873760" y="0"/>
                    <a:pt x="944880" y="71120"/>
                    <a:pt x="944880" y="158750"/>
                  </a:cubicBezTo>
                  <a:lnTo>
                    <a:pt x="944880" y="786130"/>
                  </a:lnTo>
                  <a:cubicBezTo>
                    <a:pt x="944880" y="873760"/>
                    <a:pt x="873760" y="944880"/>
                    <a:pt x="786130" y="944880"/>
                  </a:cubicBezTo>
                  <a:lnTo>
                    <a:pt x="158750" y="944880"/>
                  </a:lnTo>
                  <a:cubicBezTo>
                    <a:pt x="71120" y="945007"/>
                    <a:pt x="0" y="873887"/>
                    <a:pt x="0" y="78613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5680" cy="995807"/>
            </a:xfrm>
            <a:custGeom>
              <a:avLst/>
              <a:gdLst/>
              <a:ahLst/>
              <a:cxnLst/>
              <a:rect r="r" b="b" t="t" l="l"/>
              <a:pathLst>
                <a:path h="995807" w="9956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811530" y="0"/>
                  </a:lnTo>
                  <a:lnTo>
                    <a:pt x="811530" y="25400"/>
                  </a:lnTo>
                  <a:lnTo>
                    <a:pt x="811530" y="0"/>
                  </a:lnTo>
                  <a:cubicBezTo>
                    <a:pt x="913257" y="0"/>
                    <a:pt x="995680" y="82423"/>
                    <a:pt x="995680" y="184150"/>
                  </a:cubicBezTo>
                  <a:lnTo>
                    <a:pt x="970280" y="184150"/>
                  </a:lnTo>
                  <a:lnTo>
                    <a:pt x="995680" y="184150"/>
                  </a:lnTo>
                  <a:lnTo>
                    <a:pt x="995680" y="811530"/>
                  </a:lnTo>
                  <a:lnTo>
                    <a:pt x="970280" y="811530"/>
                  </a:lnTo>
                  <a:lnTo>
                    <a:pt x="995680" y="811530"/>
                  </a:lnTo>
                  <a:cubicBezTo>
                    <a:pt x="995680" y="913257"/>
                    <a:pt x="913257" y="995680"/>
                    <a:pt x="811530" y="995680"/>
                  </a:cubicBezTo>
                  <a:lnTo>
                    <a:pt x="811530" y="970280"/>
                  </a:lnTo>
                  <a:lnTo>
                    <a:pt x="811530" y="995680"/>
                  </a:lnTo>
                  <a:lnTo>
                    <a:pt x="184150" y="995680"/>
                  </a:lnTo>
                  <a:lnTo>
                    <a:pt x="184150" y="970280"/>
                  </a:lnTo>
                  <a:lnTo>
                    <a:pt x="184150" y="995680"/>
                  </a:lnTo>
                  <a:cubicBezTo>
                    <a:pt x="82423" y="995807"/>
                    <a:pt x="0" y="913257"/>
                    <a:pt x="0" y="811530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811530"/>
                  </a:lnTo>
                  <a:lnTo>
                    <a:pt x="25400" y="811530"/>
                  </a:lnTo>
                  <a:lnTo>
                    <a:pt x="50800" y="811530"/>
                  </a:lnTo>
                  <a:cubicBezTo>
                    <a:pt x="50800" y="885190"/>
                    <a:pt x="110490" y="944880"/>
                    <a:pt x="184150" y="944880"/>
                  </a:cubicBezTo>
                  <a:lnTo>
                    <a:pt x="811530" y="944880"/>
                  </a:lnTo>
                  <a:cubicBezTo>
                    <a:pt x="885190" y="944880"/>
                    <a:pt x="944880" y="885190"/>
                    <a:pt x="944880" y="811530"/>
                  </a:cubicBezTo>
                  <a:lnTo>
                    <a:pt x="944880" y="184150"/>
                  </a:lnTo>
                  <a:cubicBezTo>
                    <a:pt x="945007" y="110490"/>
                    <a:pt x="885190" y="50800"/>
                    <a:pt x="811530" y="50800"/>
                  </a:cubicBezTo>
                  <a:lnTo>
                    <a:pt x="184150" y="50800"/>
                  </a:lnTo>
                  <a:lnTo>
                    <a:pt x="184150" y="25400"/>
                  </a:lnTo>
                  <a:lnTo>
                    <a:pt x="184150" y="50800"/>
                  </a:lnTo>
                  <a:cubicBezTo>
                    <a:pt x="110490" y="50800"/>
                    <a:pt x="50800" y="110490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8966746" y="6830317"/>
            <a:ext cx="354360" cy="442912"/>
            <a:chOff x="0" y="0"/>
            <a:chExt cx="472480" cy="59055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472440" cy="590550"/>
            </a:xfrm>
            <a:custGeom>
              <a:avLst/>
              <a:gdLst/>
              <a:ahLst/>
              <a:cxnLst/>
              <a:rect r="r" b="b" t="t" l="l"/>
              <a:pathLst>
                <a:path h="590550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5" r="-8" b="-815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5152276" y="29188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3623816"/>
            <a:ext cx="9445526" cy="183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7"/>
              </a:lnSpc>
            </a:pPr>
            <a:r>
              <a:rPr lang="en-US" sz="1112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Q&amp;A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7675" y="5859215"/>
            <a:ext cx="5670649" cy="73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52276" y="29188"/>
            <a:ext cx="3135724" cy="999512"/>
          </a:xfrm>
          <a:custGeom>
            <a:avLst/>
            <a:gdLst/>
            <a:ahLst/>
            <a:cxnLst/>
            <a:rect r="r" b="b" t="t" l="l"/>
            <a:pathLst>
              <a:path h="999512" w="3135724">
                <a:moveTo>
                  <a:pt x="0" y="0"/>
                </a:moveTo>
                <a:lnTo>
                  <a:pt x="3135724" y="0"/>
                </a:lnTo>
                <a:lnTo>
                  <a:pt x="3135724" y="999512"/>
                </a:lnTo>
                <a:lnTo>
                  <a:pt x="0" y="999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DAGx8fCCP-Q</dc:identifier>
  <dcterms:modified xsi:type="dcterms:W3CDTF">2011-08-01T06:04:30Z</dcterms:modified>
  <cp:revision>1</cp:revision>
  <dc:title>Cloud-Simplify-The-Unified-Multi-Cloud-Platform.pptx</dc:title>
</cp:coreProperties>
</file>